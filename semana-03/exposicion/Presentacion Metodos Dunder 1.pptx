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odern_flat_3d_styled_educational_pre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1. ¿Qué son los métodos Dunder?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232B37"/>
                </a:solidFill>
                <a:latin typeface="Aptos"/>
              </a:defRPr>
            </a:pPr>
            <a:r>
              <a:t>Son métodos especiales de Python que tienen dos guiones bajos al principio y al final.</a:t>
            </a:r>
          </a:p>
          <a:p>
            <a:pPr>
              <a:spcAft>
                <a:spcPts val="1400"/>
              </a:spcAft>
              <a:defRPr sz="2300">
                <a:solidFill>
                  <a:srgbClr val="232B37"/>
                </a:solidFill>
                <a:latin typeface="Aptos"/>
              </a:defRPr>
            </a:pPr>
            <a:r>
              <a:t>Dunder viene de “Double Underscore”, que significa doble guion bajo.</a:t>
            </a:r>
          </a:p>
          <a:p>
            <a:pPr>
              <a:spcAft>
                <a:spcPts val="1400"/>
              </a:spcAft>
              <a:defRPr sz="2300">
                <a:solidFill>
                  <a:srgbClr val="232B37"/>
                </a:solidFill>
                <a:latin typeface="Aptos"/>
              </a:defRPr>
            </a:pPr>
            <a:r>
              <a:t>Permiten personalizar cómo se comportan los objetos en operaciones como imprimir, comparar o sumar.</a:t>
            </a:r>
          </a:p>
          <a:p>
            <a:pPr>
              <a:spcAft>
                <a:spcPts val="1400"/>
              </a:spcAft>
              <a:defRPr sz="2300">
                <a:solidFill>
                  <a:srgbClr val="232B37"/>
                </a:solidFill>
                <a:latin typeface="Aptos"/>
              </a:defRPr>
            </a:pPr>
            <a:r>
              <a:t>Ejemplos: __str__(), __repr__(), __len__() y __eq__().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2. ¿Qué pasa si no definimos __str__()?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6766560" cy="4800600"/>
          </a:xfrm>
          <a:prstGeom prst="roundRect">
            <a:avLst/>
          </a:prstGeom>
          <a:solidFill>
            <a:srgbClr val="F4F7FC"/>
          </a:solidFill>
          <a:ln>
            <a:solidFill>
              <a:srgbClr val="BE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64592" rtlCol="0" anchor="ctr"/>
          <a:lstStyle/>
          <a:p>
            <a:pPr algn="ctr">
              <a:defRPr sz="1700">
                <a:solidFill>
                  <a:srgbClr val="232B37"/>
                </a:solidFill>
                <a:latin typeface="Consolas"/>
              </a:defRPr>
            </a:pPr>
            <a:r>
              <a:t>class Estudiante:</a:t>
            </a:r>
            <a:br/>
            <a:r>
              <a:t>    def __init__(self, nombre, edad):</a:t>
            </a:r>
            <a:br/>
            <a:r>
              <a:t>        self.nombre = nombre</a:t>
            </a:r>
            <a:br/>
            <a:r>
              <a:t>        self.edad = edad</a:t>
            </a:r>
            <a:br/>
            <a:br/>
            <a:r>
              <a:t>estudiante1 = Estudiante("Santiago", 17)</a:t>
            </a:r>
            <a:br/>
            <a:r>
              <a:t>print(estudiante1)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26679" y="150876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326FC9"/>
                </a:solidFill>
              </a:defRPr>
            </a:pPr>
            <a:r>
              <a:t>Resultado aproximado</a:t>
            </a:r>
          </a:p>
          <a:p>
            <a:pPr>
              <a:spcAft>
                <a:spcPts val="800"/>
              </a:spcAft>
              <a:defRPr sz="1800">
                <a:solidFill>
                  <a:srgbClr val="232B37"/>
                </a:solidFill>
              </a:defRPr>
            </a:pPr>
            <a:r>
              <a:t>&lt;__main__.Estudiante object at 0x...&gt;</a:t>
            </a:r>
            <a:br/>
            <a:br/>
            <a:r>
              <a:t>Python muestra una representación predeterminada del objeto, no sus datos de forma amigable. La dirección/identificador puede variar.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3. ¿Para qué sirve __str__()?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7315200" cy="4800600"/>
          </a:xfrm>
          <a:prstGeom prst="roundRect">
            <a:avLst/>
          </a:prstGeom>
          <a:solidFill>
            <a:srgbClr val="F4F7FC"/>
          </a:solidFill>
          <a:ln>
            <a:solidFill>
              <a:srgbClr val="BE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64592" rtlCol="0" anchor="ctr"/>
          <a:lstStyle/>
          <a:p>
            <a:pPr algn="ctr">
              <a:defRPr sz="1500">
                <a:solidFill>
                  <a:srgbClr val="232B37"/>
                </a:solidFill>
                <a:latin typeface="Consolas"/>
              </a:defRPr>
            </a:pPr>
            <a:r>
              <a:t>class Estudiante:</a:t>
            </a:r>
            <a:br/>
            <a:r>
              <a:t>    def __init__(self, nombre, edad):</a:t>
            </a:r>
            <a:br/>
            <a:r>
              <a:t>        self.nombre = nombre</a:t>
            </a:r>
            <a:br/>
            <a:r>
              <a:t>        self.edad = edad</a:t>
            </a:r>
            <a:br/>
            <a:br/>
            <a:r>
              <a:t>    def __str__(self):</a:t>
            </a:r>
            <a:br/>
            <a:r>
              <a:t>        return f"Estudiante: {self.nombre}, Edad: {self.edad}"</a:t>
            </a:r>
            <a:br/>
            <a:br/>
            <a:r>
              <a:t>estudiante1 = Estudiante("Santiago", 17)</a:t>
            </a:r>
            <a:br/>
            <a:r>
              <a:t>print(estudiante1)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150876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326FC9"/>
                </a:solidFill>
              </a:defRPr>
            </a:pPr>
            <a:r>
              <a:t>Salida</a:t>
            </a:r>
          </a:p>
          <a:p>
            <a:pPr>
              <a:spcAft>
                <a:spcPts val="800"/>
              </a:spcAft>
              <a:defRPr sz="1800">
                <a:solidFill>
                  <a:srgbClr val="232B37"/>
                </a:solidFill>
              </a:defRPr>
            </a:pPr>
            <a:r>
              <a:t>Estudiante: Santiago, Edad: 17</a:t>
            </a:r>
            <a:br/>
            <a:br/>
            <a:r>
              <a:t>__str__() define un texto claro para mostrar el objeto con print(). Se parece a toString() de JavaScript.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4. __str__() con una condición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7635240" cy="4800600"/>
          </a:xfrm>
          <a:prstGeom prst="roundRect">
            <a:avLst/>
          </a:prstGeom>
          <a:solidFill>
            <a:srgbClr val="F4F7FC"/>
          </a:solidFill>
          <a:ln>
            <a:solidFill>
              <a:srgbClr val="BE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64592" rtlCol="0" anchor="ctr"/>
          <a:lstStyle/>
          <a:p>
            <a:pPr algn="ctr">
              <a:defRPr sz="1300">
                <a:solidFill>
                  <a:srgbClr val="232B37"/>
                </a:solidFill>
                <a:latin typeface="Consolas"/>
              </a:defRPr>
            </a:pPr>
            <a:r>
              <a:t>class Estudiante:</a:t>
            </a:r>
            <a:br/>
            <a:r>
              <a:t>    def __init__(self, nombre, nota):</a:t>
            </a:r>
            <a:br/>
            <a:r>
              <a:t>        self.nombre = nombre</a:t>
            </a:r>
            <a:br/>
            <a:r>
              <a:t>        self.nota = nota</a:t>
            </a:r>
            <a:br/>
            <a:br/>
            <a:r>
              <a:t>    def __str__(self):</a:t>
            </a:r>
            <a:br/>
            <a:r>
              <a:t>        if self.nota &gt;= 3.0:</a:t>
            </a:r>
            <a:br/>
            <a:r>
              <a:t>            estado = "Aprobado"</a:t>
            </a:r>
            <a:br/>
            <a:r>
              <a:t>        else:</a:t>
            </a:r>
            <a:br/>
            <a:r>
              <a:t>            estado = "Reprobado"</a:t>
            </a:r>
            <a:br/>
            <a:r>
              <a:t>        return f"{self.nombre} - Nota: {self.nota} - {estado}"</a:t>
            </a:r>
            <a:br/>
            <a:br/>
            <a:r>
              <a:t>print(Estudiante("Carlos", 4.5))</a:t>
            </a:r>
            <a:br/>
            <a:r>
              <a:t>print(Estudiante("Andrés", 2.5))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150876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326FC9"/>
                </a:solidFill>
              </a:defRPr>
            </a:pPr>
            <a:r>
              <a:t>¿Qué hace?</a:t>
            </a:r>
          </a:p>
          <a:p>
            <a:pPr>
              <a:spcAft>
                <a:spcPts val="800"/>
              </a:spcAft>
              <a:defRPr sz="1800">
                <a:solidFill>
                  <a:srgbClr val="232B37"/>
                </a:solidFill>
              </a:defRPr>
            </a:pPr>
            <a:r>
              <a:t>Si la nota es 3.0 o más, muestra “Aprobado”. Si es menor, muestra “Reprobado”. Así el texto cambia según los datos del objeto.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5. Otros métodos especiales</a:t>
            </a:r>
          </a:p>
        </p:txBody>
      </p:sp>
      <p:pic>
        <p:nvPicPr>
          <p:cNvPr id="3" name="Picture 2" descr="imag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1" y="1111045"/>
            <a:ext cx="11690554" cy="56456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26 at 3.52.22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6. ¿Para qué sirven?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32B37"/>
                </a:solidFill>
                <a:latin typeface="Aptos"/>
              </a:defRPr>
            </a:pPr>
            <a:r>
              <a:t>__repr__(): ofrece una representación más técnica del objeto, útil para depurar.</a:t>
            </a:r>
          </a:p>
          <a:p>
            <a:pPr>
              <a:spcAft>
                <a:spcPts val="1400"/>
              </a:spcAft>
              <a:defRPr sz="2200">
                <a:solidFill>
                  <a:srgbClr val="232B37"/>
                </a:solidFill>
                <a:latin typeface="Aptos"/>
              </a:defRPr>
            </a:pPr>
            <a:r>
              <a:t>__len__(): permite que len(objeto) devuelva una longitud definida por nosotros.</a:t>
            </a:r>
          </a:p>
          <a:p>
            <a:pPr>
              <a:spcAft>
                <a:spcPts val="1400"/>
              </a:spcAft>
              <a:defRPr sz="2200">
                <a:solidFill>
                  <a:srgbClr val="232B37"/>
                </a:solidFill>
                <a:latin typeface="Aptos"/>
              </a:defRPr>
            </a:pPr>
            <a:r>
              <a:t>__eq__(): decide cuándo dos objetos se consideran iguales usando ==.</a:t>
            </a:r>
          </a:p>
          <a:p>
            <a:pPr>
              <a:spcAft>
                <a:spcPts val="1400"/>
              </a:spcAft>
              <a:defRPr sz="2200">
                <a:solidFill>
                  <a:srgbClr val="232B37"/>
                </a:solidFill>
                <a:latin typeface="Aptos"/>
              </a:defRPr>
            </a:pPr>
            <a:r>
              <a:t>__add__(): permite definir qué significa sumar dos objetos con +.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7. Demostración en vivo: __len__()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6720840" cy="4800600"/>
          </a:xfrm>
          <a:prstGeom prst="roundRect">
            <a:avLst/>
          </a:prstGeom>
          <a:solidFill>
            <a:srgbClr val="F4F7FC"/>
          </a:solidFill>
          <a:ln>
            <a:solidFill>
              <a:srgbClr val="BE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64592" rtlCol="0" anchor="ctr"/>
          <a:lstStyle/>
          <a:p>
            <a:pPr algn="ctr">
              <a:defRPr sz="1700">
                <a:solidFill>
                  <a:srgbClr val="232B37"/>
                </a:solidFill>
                <a:latin typeface="Consolas"/>
              </a:defRPr>
            </a:pPr>
            <a:r>
              <a:t>class Grupo:</a:t>
            </a:r>
            <a:br/>
            <a:r>
              <a:t>    def __init__(self, estudiantes):</a:t>
            </a:r>
            <a:br/>
            <a:r>
              <a:t>        self.estudiantes = estudiantes</a:t>
            </a:r>
            <a:br/>
            <a:br/>
            <a:r>
              <a:t>    def __len__(self):</a:t>
            </a:r>
            <a:br/>
            <a:r>
              <a:t>        return len(self.estudiantes)</a:t>
            </a:r>
            <a:br/>
            <a:br/>
            <a:r>
              <a:t>grupo = Grupo(["Sofía", "Carlos", "Andrés"])</a:t>
            </a:r>
            <a:br/>
            <a:r>
              <a:t>print(len(grupo))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240" y="150876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326FC9"/>
                </a:solidFill>
              </a:defRPr>
            </a:pPr>
            <a:r>
              <a:t>Salida: 3</a:t>
            </a:r>
          </a:p>
          <a:p>
            <a:pPr>
              <a:spcAft>
                <a:spcPts val="800"/>
              </a:spcAft>
              <a:defRPr sz="1900">
                <a:solidFill>
                  <a:srgbClr val="232B37"/>
                </a:solidFill>
              </a:defRPr>
            </a:pPr>
            <a:r>
              <a:t>Definimos __len__() para que len(grupo) cuente cuántos estudiantes hay en la lista. Es un ejemplo fácil de ejecutar en vivo.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8. ¿Por qué Django usa __str__() en sus modelos?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B37"/>
                </a:solidFill>
                <a:latin typeface="Aptos"/>
              </a:defRPr>
            </a:pPr>
            <a:r>
              <a:t>Django utiliza modelos para representar datos guardados en la base de datos.</a:t>
            </a:r>
          </a:p>
          <a:p>
            <a:pPr>
              <a:spcAft>
                <a:spcPts val="1400"/>
              </a:spcAft>
              <a:defRPr sz="2100">
                <a:solidFill>
                  <a:srgbClr val="232B37"/>
                </a:solidFill>
                <a:latin typeface="Aptos"/>
              </a:defRPr>
            </a:pPr>
            <a:r>
              <a:t>Al definir __str__(), podemos decidir cómo se identifica cada registro como texto.</a:t>
            </a:r>
          </a:p>
          <a:p>
            <a:pPr>
              <a:spcAft>
                <a:spcPts val="1400"/>
              </a:spcAft>
              <a:defRPr sz="2100">
                <a:solidFill>
                  <a:srgbClr val="232B37"/>
                </a:solidFill>
                <a:latin typeface="Aptos"/>
              </a:defRPr>
            </a:pPr>
            <a:r>
              <a:t>Por ejemplo, un producto puede mostrarse como “Camiseta roja” en vez de un nombre técnico del objeto.</a:t>
            </a:r>
          </a:p>
          <a:p>
            <a:pPr>
              <a:spcAft>
                <a:spcPts val="1400"/>
              </a:spcAft>
              <a:defRPr sz="2100">
                <a:solidFill>
                  <a:srgbClr val="232B37"/>
                </a:solidFill>
                <a:latin typeface="Aptos"/>
              </a:defRPr>
            </a:pPr>
            <a:r>
              <a:t>Esto ayuda a reconocer registros en el panel de administración y facilita el trabajo.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9. 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32B37"/>
                </a:solidFill>
                <a:latin typeface="Aptos"/>
              </a:defRPr>
            </a:pPr>
            <a:r>
              <a:t>Los métodos Dunder conectan nuestras clases con comportamientos especiales de Python.</a:t>
            </a:r>
          </a:p>
          <a:p>
            <a:pPr>
              <a:spcAft>
                <a:spcPts val="1400"/>
              </a:spcAft>
              <a:defRPr sz="2200">
                <a:solidFill>
                  <a:srgbClr val="232B37"/>
                </a:solidFill>
                <a:latin typeface="Aptos"/>
              </a:defRPr>
            </a:pPr>
            <a:r>
              <a:t>__str__() hace que los objetos se vean más claros al imprimirlos.</a:t>
            </a:r>
          </a:p>
          <a:p>
            <a:pPr>
              <a:spcAft>
                <a:spcPts val="1400"/>
              </a:spcAft>
              <a:defRPr sz="2200">
                <a:solidFill>
                  <a:srgbClr val="232B37"/>
                </a:solidFill>
                <a:latin typeface="Aptos"/>
              </a:defRPr>
            </a:pPr>
            <a:r>
              <a:t>__repr__(), __len__(), __eq__() y __add__() permiten personalizar otras operaciones.</a:t>
            </a:r>
          </a:p>
          <a:p>
            <a:pPr>
              <a:spcAft>
                <a:spcPts val="1400"/>
              </a:spcAft>
              <a:defRPr sz="2200">
                <a:solidFill>
                  <a:srgbClr val="232B37"/>
                </a:solidFill>
                <a:latin typeface="Aptos"/>
              </a:defRPr>
            </a:pPr>
            <a:r>
              <a:t>Lo importante es entender que podemos adaptar el comportamiento de una clase a lo que necesita nuestro programa.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Guion corto para explicar la demostración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B37"/>
                </a:solidFill>
                <a:latin typeface="Aptos"/>
              </a:defRPr>
            </a:pPr>
            <a:r>
              <a:t>“Primero voy a imprimir un objeto sin __str__() y veremos que Python no muestra directamente el nombre ni la edad.”</a:t>
            </a:r>
          </a:p>
          <a:p>
            <a:pPr>
              <a:spcAft>
                <a:spcPts val="1400"/>
              </a:spcAft>
              <a:defRPr sz="2000">
                <a:solidFill>
                  <a:srgbClr val="232B37"/>
                </a:solidFill>
                <a:latin typeface="Aptos"/>
              </a:defRPr>
            </a:pPr>
            <a:r>
              <a:t>“Ahora agrego __str__() y devuelvo un texto con los atributos del estudiante.”</a:t>
            </a:r>
          </a:p>
          <a:p>
            <a:pPr>
              <a:spcAft>
                <a:spcPts val="1400"/>
              </a:spcAft>
              <a:defRPr sz="2000">
                <a:solidFill>
                  <a:srgbClr val="232B37"/>
                </a:solidFill>
                <a:latin typeface="Aptos"/>
              </a:defRPr>
            </a:pPr>
            <a:r>
              <a:t>“Por último, uso una condición para que el mensaje diga si el estudiante está aprobado o reprobado según su nota.”</a:t>
            </a:r>
          </a:p>
          <a:p>
            <a:pPr>
              <a:spcAft>
                <a:spcPts val="1400"/>
              </a:spcAft>
              <a:defRPr sz="2000">
                <a:solidFill>
                  <a:srgbClr val="232B37"/>
                </a:solidFill>
                <a:latin typeface="Aptos"/>
              </a:defRPr>
            </a:pPr>
            <a:r>
              <a:t>“Como método adicional, mostraré __len__(), que permite usar len() con una clase propia.”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8DBDF-A428-7623-BECF-02D6FEB1F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FE7F3B-0A79-5836-19EE-9D4720EB920F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841CB-A507-245C-E765-1FF2852ABA03}"/>
              </a:ext>
            </a:extLst>
          </p:cNvPr>
          <p:cNvSpPr txBox="1"/>
          <p:nvPr/>
        </p:nvSpPr>
        <p:spPr>
          <a:xfrm>
            <a:off x="731520" y="1417320"/>
            <a:ext cx="10789920" cy="3803092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 algn="ctr">
              <a:spcAft>
                <a:spcPts val="1400"/>
              </a:spcAft>
              <a:defRPr sz="2000">
                <a:solidFill>
                  <a:srgbClr val="232B37"/>
                </a:solidFill>
                <a:latin typeface="Aptos"/>
              </a:defRPr>
            </a:pPr>
            <a:r>
              <a:rPr lang="es-ES" sz="7200" dirty="0">
                <a:latin typeface="Agency FB" panose="020B0503020202020204" pitchFamily="34" charset="0"/>
              </a:rPr>
              <a:t>Muchas Gracias </a:t>
            </a:r>
          </a:p>
          <a:p>
            <a:pPr algn="ctr">
              <a:spcAft>
                <a:spcPts val="1400"/>
              </a:spcAft>
              <a:defRPr sz="2000">
                <a:solidFill>
                  <a:srgbClr val="232B37"/>
                </a:solidFill>
                <a:latin typeface="Aptos"/>
              </a:defRPr>
            </a:pPr>
            <a:r>
              <a:rPr lang="es-ES" sz="7200" dirty="0">
                <a:latin typeface="Agency FB" panose="020B0503020202020204" pitchFamily="34" charset="0"/>
              </a:rPr>
              <a:t>Por Su</a:t>
            </a:r>
          </a:p>
          <a:p>
            <a:pPr algn="ctr">
              <a:spcAft>
                <a:spcPts val="1400"/>
              </a:spcAft>
              <a:defRPr sz="2000">
                <a:solidFill>
                  <a:srgbClr val="232B37"/>
                </a:solidFill>
                <a:latin typeface="Aptos"/>
              </a:defRPr>
            </a:pPr>
            <a:r>
              <a:rPr lang="es-ES" sz="7200" dirty="0">
                <a:latin typeface="Agency FB" panose="020B0503020202020204" pitchFamily="34" charset="0"/>
              </a:rPr>
              <a:t>Atención</a:t>
            </a:r>
            <a:endParaRPr sz="72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109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820</Words>
  <Application>Microsoft Office PowerPoint</Application>
  <PresentationFormat>Panorámica</PresentationFormat>
  <Paragraphs>45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Agency FB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Jhonathan Alexis Ortiz Rendón</cp:lastModifiedBy>
  <cp:revision>2</cp:revision>
  <dcterms:created xsi:type="dcterms:W3CDTF">2013-01-27T09:14:16Z</dcterms:created>
  <dcterms:modified xsi:type="dcterms:W3CDTF">2026-10-26T21:35:57Z</dcterms:modified>
  <cp:category/>
</cp:coreProperties>
</file>